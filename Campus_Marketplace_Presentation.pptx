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2286000"/>
          </a:xfrm>
          <a:prstGeom prst="roundRect">
            <a:avLst/>
          </a:prstGeom>
          <a:solidFill>
            <a:srgbClr val="1F5D4C"/>
          </a:solidFill>
          <a:ln w="19050">
            <a:solidFill>
              <a:srgbClr val="3C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5DCC3"/>
                </a:solidFill>
              </a:defRPr>
            </a:pPr>
            <a:r>
              <a:t>🎓 UNIVERSITY SOFTWARE ENGINEERING PROJECT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Campus Marketplace</a:t>
            </a:r>
          </a:p>
          <a:p>
            <a:pPr>
              <a:defRPr sz="1400">
                <a:solidFill>
                  <a:srgbClr val="E1F0E8"/>
                </a:solidFill>
              </a:defRPr>
            </a:pPr>
            <a:r>
              <a:t>A Hyper-Localized Peer-to-Peer Trading Platform for Sri Lankan University Students</a:t>
            </a:r>
          </a:p>
          <a:p>
            <a:pPr>
              <a:defRPr sz="1100">
                <a:solidFill>
                  <a:srgbClr val="AAD2BE"/>
                </a:solidFill>
              </a:defRPr>
            </a:pPr>
            <a:r>
              <a:t>Tech Stack: React Native (Expo SDK 57) · Google Cloud Firestore &amp; Storage ·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DCC3"/>
                </a:solidFill>
              </a:defRPr>
            </a:pPr>
            <a:r>
              <a:t>👥 PROJECT TEAM MEMBERS &amp; ROLES (PLACEHOLDER SECTION)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2029968" cy="2743200"/>
          </a:xfrm>
          <a:prstGeom prst="roundRect">
            <a:avLst/>
          </a:prstGeom>
          <a:solidFill>
            <a:srgbClr val="1C4137"/>
          </a:solidFill>
          <a:ln w="12700">
            <a:solidFill>
              <a:srgbClr val="3C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A9100"/>
                </a:solidFill>
              </a:defRPr>
            </a:pPr>
            <a:r>
              <a:t>MEMBER 1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[STUDENT 1 NAME]</a:t>
            </a:r>
          </a:p>
          <a:p>
            <a:pPr>
              <a:defRPr sz="1100">
                <a:solidFill>
                  <a:srgbClr val="BED7CD"/>
                </a:solidFill>
              </a:defRPr>
            </a:pPr>
            <a:r>
              <a:t>ID: [STUDENT 1 ID]</a:t>
            </a:r>
          </a:p>
          <a:p>
            <a:br/>
            <a:pPr>
              <a:defRPr sz="1000">
                <a:solidFill>
                  <a:srgbClr val="DCF0E6"/>
                </a:solidFill>
              </a:defRPr>
            </a:pPr>
            <a:r>
              <a:t>Assigned Feature:</a:t>
            </a:r>
            <a:br/>
            <a:r>
              <a:t>Campus Search &amp; Request Board (WTB)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3566160"/>
            <a:ext cx="2029968" cy="2743200"/>
          </a:xfrm>
          <a:prstGeom prst="roundRect">
            <a:avLst/>
          </a:prstGeom>
          <a:solidFill>
            <a:srgbClr val="1C4137"/>
          </a:solidFill>
          <a:ln w="12700">
            <a:solidFill>
              <a:srgbClr val="3C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A9100"/>
                </a:solidFill>
              </a:defRPr>
            </a:pPr>
            <a:r>
              <a:t>MEMBER 2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[STUDENT 2 NAME]</a:t>
            </a:r>
          </a:p>
          <a:p>
            <a:pPr>
              <a:defRPr sz="1100">
                <a:solidFill>
                  <a:srgbClr val="BED7CD"/>
                </a:solidFill>
              </a:defRPr>
            </a:pPr>
            <a:r>
              <a:t>ID: [STUDENT 2 ID]</a:t>
            </a:r>
          </a:p>
          <a:p>
            <a:br/>
            <a:pPr>
              <a:defRPr sz="1000">
                <a:solidFill>
                  <a:srgbClr val="DCF0E6"/>
                </a:solidFill>
              </a:defRPr>
            </a:pPr>
            <a:r>
              <a:t>Assigned Feature:</a:t>
            </a:r>
            <a:br/>
            <a:r>
              <a:t>Live Chat &amp; Price Bargaining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3566160"/>
            <a:ext cx="2029968" cy="2743200"/>
          </a:xfrm>
          <a:prstGeom prst="roundRect">
            <a:avLst/>
          </a:prstGeom>
          <a:solidFill>
            <a:srgbClr val="1C4137"/>
          </a:solidFill>
          <a:ln w="12700">
            <a:solidFill>
              <a:srgbClr val="3C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A9100"/>
                </a:solidFill>
              </a:defRPr>
            </a:pPr>
            <a:r>
              <a:t>MEMBER 3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[STUDENT 3 NAME]</a:t>
            </a:r>
          </a:p>
          <a:p>
            <a:pPr>
              <a:defRPr sz="1100">
                <a:solidFill>
                  <a:srgbClr val="BED7CD"/>
                </a:solidFill>
              </a:defRPr>
            </a:pPr>
            <a:r>
              <a:t>ID: [STUDENT 3 ID]</a:t>
            </a:r>
          </a:p>
          <a:p>
            <a:br/>
            <a:pPr>
              <a:defRPr sz="1000">
                <a:solidFill>
                  <a:srgbClr val="DCF0E6"/>
                </a:solidFill>
              </a:defRPr>
            </a:pPr>
            <a:r>
              <a:t>Assigned Feature:</a:t>
            </a:r>
            <a:br/>
            <a:r>
              <a:t>Listing CRUD &amp; Safe Meetup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3566160"/>
            <a:ext cx="2029968" cy="2743200"/>
          </a:xfrm>
          <a:prstGeom prst="roundRect">
            <a:avLst/>
          </a:prstGeom>
          <a:solidFill>
            <a:srgbClr val="1C4137"/>
          </a:solidFill>
          <a:ln w="12700">
            <a:solidFill>
              <a:srgbClr val="3C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A9100"/>
                </a:solidFill>
              </a:defRPr>
            </a:pPr>
            <a:r>
              <a:t>MEMBER 4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[STUDENT 4 NAME]</a:t>
            </a:r>
          </a:p>
          <a:p>
            <a:pPr>
              <a:defRPr sz="1100">
                <a:solidFill>
                  <a:srgbClr val="BED7CD"/>
                </a:solidFill>
              </a:defRPr>
            </a:pPr>
            <a:r>
              <a:t>ID: [STUDENT 4 ID]</a:t>
            </a:r>
          </a:p>
          <a:p>
            <a:br/>
            <a:pPr>
              <a:defRPr sz="1000">
                <a:solidFill>
                  <a:srgbClr val="DCF0E6"/>
                </a:solidFill>
              </a:defRPr>
            </a:pPr>
            <a:r>
              <a:t>Assigned Feature:</a:t>
            </a:r>
            <a:br/>
            <a:r>
              <a:t>Auth Security &amp; Seller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3566160"/>
            <a:ext cx="2029968" cy="2743200"/>
          </a:xfrm>
          <a:prstGeom prst="roundRect">
            <a:avLst/>
          </a:prstGeom>
          <a:solidFill>
            <a:srgbClr val="1C4137"/>
          </a:solidFill>
          <a:ln w="12700">
            <a:solidFill>
              <a:srgbClr val="3C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A9100"/>
                </a:solidFill>
              </a:defRPr>
            </a:pPr>
            <a:r>
              <a:t>MEMBER 5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[STUDENT 5 NAME]</a:t>
            </a:r>
          </a:p>
          <a:p>
            <a:pPr>
              <a:defRPr sz="1100">
                <a:solidFill>
                  <a:srgbClr val="BED7CD"/>
                </a:solidFill>
              </a:defRPr>
            </a:pPr>
            <a:r>
              <a:t>ID: [STUDENT 5 ID]</a:t>
            </a:r>
          </a:p>
          <a:p>
            <a:br/>
            <a:pPr>
              <a:defRPr sz="1000">
                <a:solidFill>
                  <a:srgbClr val="DCF0E6"/>
                </a:solidFill>
              </a:defRPr>
            </a:pPr>
            <a:r>
              <a:t>Assigned Feature:</a:t>
            </a:r>
            <a:br/>
            <a:r>
              <a:t>Data Models &amp; Scam Moderation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Team Workload Distribution &amp; Feature Matrix (20% Equal Each)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3291840"/>
                <a:gridCol w="2834640"/>
                <a:gridCol w="761695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NAME &amp; STUDENT ID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ASSIGNED SUBSYSTEM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SOURCE CODE FILES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Member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[Member 1 Name - ID: IT21XXXXXX]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Campus Search, Price Filter &amp; Request Board (WTB)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ItemRequestsModal.tsx, ExplorePage.tsx, data.ts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Member 2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[Member 2 Name - ID: IT21XXXXXX]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Real-Time Firestore Chat &amp; Price Bargaining Engine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MakeOfferModal.tsx, MessagesPage.tsx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Member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[Member 3 Name - ID: IT21XXXXXX]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Seller Inventory CRUD &amp; Safe Campus Meetup Coordinator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MeetupSchedulerModal.tsx, MyListingsPage.tsx, ListingCard.tsx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Member 4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[Member 4 Name - ID: IT21XXXXXX]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User Authentication Security &amp; Seller Reputation System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SellerReviewsModal.tsx, ProfilePage.tsx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Member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[Member 5 Name - ID: IT21XXXXXX]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TypeScript Data Architecture &amp; Scam Moderation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ReportListingModal.tsx, SavedPage.tsx, types.ts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   💸 High Academic Costs</a:t>
            </a:r>
          </a:p>
          <a:p>
            <a:pPr>
              <a:defRPr sz="1150">
                <a:solidFill>
                  <a:srgbClr val="64746C"/>
                </a:solidFill>
              </a:defRPr>
            </a:pPr>
            <a:r>
              <a:t>   University students spend thousands of LKR each semester on mandatory textbooks, senior lecture notes, and drafting tools that are only used for a single semester.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64592" cy="1234440"/>
          </a:xfrm>
          <a:prstGeom prst="rect">
            <a:avLst/>
          </a:prstGeom>
          <a:solidFill>
            <a:srgbClr val="C8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   📍 Lack of Campus Localization</a:t>
            </a:r>
          </a:p>
          <a:p>
            <a:pPr>
              <a:defRPr sz="1150">
                <a:solidFill>
                  <a:srgbClr val="64746C"/>
                </a:solidFill>
              </a:defRPr>
            </a:pPr>
            <a:r>
              <a:t>   General platforms (Facebook Groups, Ikman) mix listings island-wide. A student in Colombo cannot easily filter items held by someone in the Moratuwa or Peradeniya campus.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64592" cy="1234440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   🛡️ Safety Risks &amp; Scams</a:t>
            </a:r>
          </a:p>
          <a:p>
            <a:pPr>
              <a:defRPr sz="1150">
                <a:solidFill>
                  <a:srgbClr val="64746C"/>
                </a:solidFill>
              </a:defRPr>
            </a:pPr>
            <a:r>
              <a:t>   Meeting strangers off-campus carries safety hazards. Furthermore, buyers frequently face advance payment scams, counterfeit past papers, and unverified sellers.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64592" cy="1234440"/>
          </a:xfrm>
          <a:prstGeom prst="rect">
            <a:avLst/>
          </a:prstGeom>
          <a:solidFill>
            <a:srgbClr val="DA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Proposed Solution: Hyper-Localized Campus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92621"/>
                </a:solidFill>
              </a:defRPr>
            </a:pPr>
            <a:br/>
            <a:br/>
            <a:r>
              <a:t>Filtered by 17 state universities &amp; LKR price ranges. Features a Student Request Board (WTB) for unlisted goods.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EB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5D4C"/>
                </a:solidFill>
              </a:defRPr>
            </a:pPr>
            <a:r>
              <a:t>  1. Campus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92621"/>
                </a:solidFill>
              </a:defRPr>
            </a:pPr>
            <a:br/>
            <a:br/>
            <a:r>
              <a:t>Structured 'Make an Offer' engine with automated percentage discounts &amp; real-time Firestore messaging.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EB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5D4C"/>
                </a:solidFill>
              </a:defRPr>
            </a:pPr>
            <a:r>
              <a:t>  2. Real-Time Chat &amp; Offers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92621"/>
                </a:solidFill>
              </a:defRPr>
            </a:pPr>
            <a:br/>
            <a:br/>
            <a:r>
              <a:t>Designated physical safe exchange zones (Library, Canteen, Security Gate) with scheduled time windows.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12080" cy="502920"/>
          </a:xfrm>
          <a:prstGeom prst="rect">
            <a:avLst/>
          </a:prstGeom>
          <a:solidFill>
            <a:srgbClr val="EB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5D4C"/>
                </a:solidFill>
              </a:defRPr>
            </a:pPr>
            <a:r>
              <a:t>  3. Safe Meetup Logistics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92621"/>
                </a:solidFill>
              </a:defRPr>
            </a:pPr>
            <a:br/>
            <a:br/>
            <a:r>
              <a:t>Email/Password security, verified 5-star seller peer reviews, trust badges, and scam report shield.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502920"/>
          </a:xfrm>
          <a:prstGeom prst="rect">
            <a:avLst/>
          </a:prstGeom>
          <a:solidFill>
            <a:srgbClr val="EB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5D4C"/>
                </a:solidFill>
              </a:defRPr>
            </a:pPr>
            <a:r>
              <a:t>  4. Trust, Auth &amp;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System Architecture &amp; Engineering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5D4C"/>
                </a:solidFill>
              </a:defRPr>
            </a:pPr>
            <a:r>
              <a:t>FRONTEND</a:t>
            </a:r>
          </a:p>
          <a:p>
            <a:pPr>
              <a:defRPr sz="1300" b="1">
                <a:solidFill>
                  <a:srgbClr val="14322A"/>
                </a:solidFill>
              </a:defRPr>
            </a:pPr>
            <a:r>
              <a:t>React Native &amp; Expo SDK 57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Universal iOS, Android, and Web compatibility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TypeScript 6.0 with strict data contracts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Custom design system (#1F5D4C Campus Green)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Single-Modal view routing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5D4C"/>
                </a:solidFill>
              </a:defRPr>
            </a:pPr>
            <a:r>
              <a:t>BACKEND</a:t>
            </a:r>
          </a:p>
          <a:p>
            <a:pPr>
              <a:defRPr sz="1300" b="1">
                <a:solidFill>
                  <a:srgbClr val="14322A"/>
                </a:solidFill>
              </a:defRPr>
            </a:pPr>
            <a:r>
              <a:t>Firebase Cloud Services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Firebase Authentication (Email/Password &amp; Google)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Cloud Firestore NoSQL Database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Real-time snapshot listeners for live chat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Firebase Cloud Storage for photo uploads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5D4C"/>
                </a:solidFill>
              </a:defRPr>
            </a:pPr>
            <a:r>
              <a:t>SECURITY &amp; DEPLOY</a:t>
            </a:r>
          </a:p>
          <a:p>
            <a:pPr>
              <a:defRPr sz="1300" b="1">
                <a:solidFill>
                  <a:srgbClr val="14322A"/>
                </a:solidFill>
              </a:defRPr>
            </a:pPr>
            <a:r>
              <a:t>Rules &amp; Quality Assurance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Firestore Security Rules: seller-owned edits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Private message subcollections access control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Zero TypeScript compiler errors (npx tsc)</a:t>
            </a:r>
          </a:p>
          <a:p>
            <a:pPr>
              <a:defRPr sz="1100">
                <a:solidFill>
                  <a:srgbClr val="64746C"/>
                </a:solidFill>
              </a:defRPr>
            </a:pPr>
            <a:r>
              <a:t>• Modular isolation under src/features/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Module 1: Campus Search &amp; Student Request Board (WTB)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EBF3EE"/>
          </a:solidFill>
          <a:ln w="12700">
            <a:solidFill>
              <a:srgbClr val="1F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5D4C"/>
                </a:solidFill>
              </a:defRPr>
            </a:pPr>
            <a:r>
              <a:t>👤 LEAD DEVELOPER: MEMBER 1</a:t>
            </a:r>
          </a:p>
          <a:p>
            <a:pPr>
              <a:defRPr sz="1200">
                <a:solidFill>
                  <a:srgbClr val="14322A"/>
                </a:solidFill>
              </a:defRPr>
            </a:pPr>
            <a:r>
              <a:t>Student Name: [MEMBER 1 NAME]</a:t>
            </a:r>
            <a:br/>
            <a:r>
              <a:t>Student ID: [MEMBER 1 ID]</a:t>
            </a:r>
            <a:br/>
            <a:r>
              <a:t>Contribution Weight: 20%</a:t>
            </a:r>
          </a:p>
          <a:p>
            <a:br/>
            <a:pPr>
              <a:defRPr sz="1050">
                <a:solidFill>
                  <a:srgbClr val="64746C"/>
                </a:solidFill>
              </a:defRPr>
            </a:pPr>
            <a:r>
              <a:t>Dedicated Files:</a:t>
            </a:r>
            <a:br/>
            <a:r>
              <a:t>• src/features/ItemRequestsModal.tsx</a:t>
            </a:r>
            <a:br/>
            <a:r>
              <a:t>• src/pages/ExplorePage.tsx</a:t>
            </a:r>
            <a:br/>
            <a:r>
              <a:t>• src/data.ts</a:t>
            </a:r>
            <a:br/>
            <a:br/>
            <a:r>
              <a:t>Git Branch: feature/item-requests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Key Functional &amp; Technical Deliverables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1. Sri Lankan State University Mapping: Replaced generic 'North Campus' strings with 17 state universities (Moratuwa, Colombo, Peradeniya, Sri Jayewardenepura, Kelaniya, etc.)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2. Real-Time Price Range Filtering: Implemented Min/Max LKR sliders to ensure students can search within exact budgets.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3. Student Request Board (WTB): Engineered ItemRequestsModal.tsx where students can post wanted requests with target budgets and urgency levels ('Urgent (Exam Soon)' vs 'Normal').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4. Seamless Peer Contact: Included quick 'I have this!' response triggers connecting directly into messaging.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Module 2: Live Chat Subsystem &amp; Price Bargaining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EBF3EE"/>
          </a:solidFill>
          <a:ln>
            <a:solidFill>
              <a:srgbClr val="1F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5D4C"/>
                </a:solidFill>
              </a:defRPr>
            </a:pPr>
            <a:r>
              <a:t>👤 LEAD DEVELOPER: MEMBER 2</a:t>
            </a:r>
          </a:p>
          <a:p>
            <a:pPr>
              <a:defRPr sz="1200">
                <a:solidFill>
                  <a:srgbClr val="14322A"/>
                </a:solidFill>
              </a:defRPr>
            </a:pPr>
            <a:r>
              <a:t>Student Name: [MEMBER 2 NAME]</a:t>
            </a:r>
            <a:br/>
            <a:r>
              <a:t>Student ID: [MEMBER 2 ID]</a:t>
            </a:r>
            <a:br/>
            <a:r>
              <a:t>Contribution Weight: 20%</a:t>
            </a:r>
          </a:p>
          <a:p>
            <a:br/>
            <a:pPr>
              <a:defRPr sz="1050">
                <a:solidFill>
                  <a:srgbClr val="64746C"/>
                </a:solidFill>
              </a:defRPr>
            </a:pPr>
            <a:r>
              <a:t>Dedicated Files:</a:t>
            </a:r>
            <a:br/>
            <a:r>
              <a:t>• src/features/MakeOfferModal.tsx</a:t>
            </a:r>
            <a:br/>
            <a:r>
              <a:t>• src/pages/MessagesPage.tsx</a:t>
            </a:r>
            <a:br/>
            <a:br/>
            <a:r>
              <a:t>Git Branch: feature/make-offer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Key Functional &amp; Technical Deliverables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1. Real-Time Chat Engine: Transformed the empty 20-line placeholder into a full Cloud Firestore query pipeline with timestamped subcollections.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2. Price Bargaining (Make an Offer): Built MakeOfferModal.tsx with quick percentage discount chips (-5%, -10%, -15%, -20%) and custom offer inputs.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3. Instant Savings Calculation: Dynamically calculates and displays student savings in LKR before dispatching offers to sellers.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4. Deal Sweeteners: Integrated preset negotiation chips ('Can pick up today', 'Cash on delivery') allowing seamless trade terms.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Module 3: Seller Inventory CRUD &amp; Safe Meetup Coordinator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EBF3EE"/>
          </a:solidFill>
          <a:ln>
            <a:solidFill>
              <a:srgbClr val="1F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5D4C"/>
                </a:solidFill>
              </a:defRPr>
            </a:pPr>
            <a:r>
              <a:t>👤 LEAD DEVELOPER: MEMBER 3</a:t>
            </a:r>
          </a:p>
          <a:p>
            <a:pPr>
              <a:defRPr sz="1200">
                <a:solidFill>
                  <a:srgbClr val="14322A"/>
                </a:solidFill>
              </a:defRPr>
            </a:pPr>
            <a:r>
              <a:t>Student Name: [MEMBER 3 NAME]</a:t>
            </a:r>
            <a:br/>
            <a:r>
              <a:t>Student ID: [MEMBER 3 ID]</a:t>
            </a:r>
            <a:br/>
            <a:r>
              <a:t>Contribution Weight: 20%</a:t>
            </a:r>
          </a:p>
          <a:p>
            <a:br/>
            <a:pPr>
              <a:defRPr sz="1050">
                <a:solidFill>
                  <a:srgbClr val="64746C"/>
                </a:solidFill>
              </a:defRPr>
            </a:pPr>
            <a:r>
              <a:t>Dedicated Files:</a:t>
            </a:r>
            <a:br/>
            <a:r>
              <a:t>• src/features/MeetupSchedulerModal.tsx</a:t>
            </a:r>
            <a:br/>
            <a:r>
              <a:t>• src/pages/MyListingsPage.tsx</a:t>
            </a:r>
            <a:br/>
            <a:r>
              <a:t>• src/components/ListingCard.tsx</a:t>
            </a:r>
            <a:br/>
            <a:br/>
            <a:r>
              <a:t>Git Branch: feature/safe-meetup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Key Functional &amp; Technical Deliverables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1. Full Listing CRUD Flow: Implemented Edit listing forms with pre-filled state, and Delete listings with native confirmation alerts.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2. Cloud Photo Uploads: Integrated expo-image-picker and Firebase Cloud Storage blob uploads under listing-images/{uid}/{timestamp}.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3. Safe Campus Meetup Coordinator: Developed MeetupSchedulerModal.tsx designating verified public zones (Library Lobby, Canteen, Security Gate).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4. Scheduling &amp; Safety Guidelines: Provided date chips, time windows ('Lunch Break', 'Afternoon'), and student safety checklists.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Module 4: Authentication Security &amp; Seller Reputation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EBF3EE"/>
          </a:solidFill>
          <a:ln>
            <a:solidFill>
              <a:srgbClr val="1F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5D4C"/>
                </a:solidFill>
              </a:defRPr>
            </a:pPr>
            <a:r>
              <a:t>👤 LEAD DEVELOPER: MEMBER 4</a:t>
            </a:r>
          </a:p>
          <a:p>
            <a:pPr>
              <a:defRPr sz="1200">
                <a:solidFill>
                  <a:srgbClr val="14322A"/>
                </a:solidFill>
              </a:defRPr>
            </a:pPr>
            <a:r>
              <a:t>Student Name: [MEMBER 4 NAME]</a:t>
            </a:r>
            <a:br/>
            <a:r>
              <a:t>Student ID: [MEMBER 4 ID]</a:t>
            </a:r>
            <a:br/>
            <a:r>
              <a:t>Contribution Weight: 20%</a:t>
            </a:r>
          </a:p>
          <a:p>
            <a:br/>
            <a:pPr>
              <a:defRPr sz="1050">
                <a:solidFill>
                  <a:srgbClr val="64746C"/>
                </a:solidFill>
              </a:defRPr>
            </a:pPr>
            <a:r>
              <a:t>Dedicated Files:</a:t>
            </a:r>
            <a:br/>
            <a:r>
              <a:t>• src/features/SellerReviewsModal.tsx</a:t>
            </a:r>
            <a:br/>
            <a:r>
              <a:t>• src/pages/ProfilePage.tsx</a:t>
            </a:r>
            <a:br/>
            <a:br/>
            <a:r>
              <a:t>Git Branch: feature/seller-reviews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Key Functional &amp; Technical Deliverables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1. Email/Password Authentication: Built full sign-up and sign-in with mode-switching, input validation, and Firestore profile synchronization.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2. Seller Reviews &amp; Trust Badges: Created SellerReviewsModal.tsx featuring 5-star ratings, verified badges ('Verified Student', 'Fast Responder'), and satisfaction bars.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3. Critical Bug Resolution: Discovered and resolved the native Android touch lock bug in Expo Go by replacing stacked native Modals with single-modal view routing.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4. Seamless 'Back to Listing' Nav: Provided 60fps instant transitions between listing details and review submissions.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Module 5: Data Models &amp; Content Moderation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EBF3EE"/>
          </a:solidFill>
          <a:ln>
            <a:solidFill>
              <a:srgbClr val="1F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5D4C"/>
                </a:solidFill>
              </a:defRPr>
            </a:pPr>
            <a:r>
              <a:t>👤 LEAD DEVELOPER: MEMBER 5</a:t>
            </a:r>
          </a:p>
          <a:p>
            <a:pPr>
              <a:defRPr sz="1200">
                <a:solidFill>
                  <a:srgbClr val="14322A"/>
                </a:solidFill>
              </a:defRPr>
            </a:pPr>
            <a:r>
              <a:t>Student Name: [MEMBER 5 NAME]</a:t>
            </a:r>
            <a:br/>
            <a:r>
              <a:t>Student ID: [MEMBER 5 ID]</a:t>
            </a:r>
            <a:br/>
            <a:r>
              <a:t>Contribution Weight: 20%</a:t>
            </a:r>
          </a:p>
          <a:p>
            <a:br/>
            <a:pPr>
              <a:defRPr sz="1050">
                <a:solidFill>
                  <a:srgbClr val="64746C"/>
                </a:solidFill>
              </a:defRPr>
            </a:pPr>
            <a:r>
              <a:t>Dedicated Files:</a:t>
            </a:r>
            <a:br/>
            <a:r>
              <a:t>• src/features/ReportListingModal.tsx</a:t>
            </a:r>
            <a:br/>
            <a:r>
              <a:t>• src/pages/SavedPage.tsx</a:t>
            </a:r>
            <a:br/>
            <a:r>
              <a:t>• src/types.ts</a:t>
            </a:r>
            <a:br/>
            <a:br/>
            <a:r>
              <a:t>Git Branch: feature/report-moderation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322A"/>
                </a:solidFill>
              </a:defRPr>
            </a:pPr>
            <a:r>
              <a:t>Key Functional &amp; Technical Deliverables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1. TypeScript Data Architecture: Architected types.ts declaring strict shared models across all 5 developers, eliminating runtime data mismatches.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2. Saved Shortlist Synchronization: Maintained real-time Firestore saved-items subcollection sync with instant optimistic UI toggling.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3. Content Moderation Shield: Built ReportListingModal.tsx allowing confidential reporting of fraudulent items, stolen campus gear, and exam leaks.</a:t>
            </a:r>
          </a:p>
          <a:p>
            <a:br/>
            <a:pPr>
              <a:defRPr sz="1100">
                <a:solidFill>
                  <a:srgbClr val="192621"/>
                </a:solidFill>
              </a:defRPr>
            </a:pPr>
            <a:r>
              <a:t>• 4. Structured Categories: Pre-categorized report triggers for admin review (Scam attempt, bait price, copyright infringement, duplicate spam).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5D4C"/>
                </a:solidFill>
              </a:defRPr>
            </a:pPr>
            <a:r>
              <a:t>CAMPUS MARKETPLACE — UNIVERSITY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22A"/>
                </a:solidFill>
              </a:defRPr>
            </a:pPr>
            <a:r>
              <a:t>Project Evolution: Initial Prototype vs Final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1F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291840"/>
                <a:gridCol w="2864815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 AREA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INITIAL PROTOTYPE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OUR FINAL MARKETPLACE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ENGINEERING IMPACT</a:t>
                      </a:r>
                    </a:p>
                  </a:txBody>
                  <a:tcPr>
                    <a:solidFill>
                      <a:srgbClr val="1F5D4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Campus &amp;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Generic 'North Campus' 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17 Sri Lankan State Universities &amp; Price 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Hyper-localized campus trading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Messaging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Empty 20-line stub (no chat)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Live Firestore Chat + Make an Offer System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Real-time bargaining &amp; negotiation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Seller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No edit/delete, dummy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Listing CRUD + Firebase Cloud Storage Uploads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Complete seller inventory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Anonymous guest logins only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Email/Password with Firestore User Sync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Accountability &amp; student verification</a:t>
                      </a:r>
                    </a:p>
                  </a:txBody>
                  <a:tcPr>
                    <a:solidFill>
                      <a:srgbClr val="EBF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Trust &amp;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None (high scam vulnerability)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5D4C"/>
                          </a:solidFill>
                        </a:defRPr>
                      </a:pPr>
                      <a:r>
                        <a:t>5-Star Reviews, Safe Meetups &amp; Scam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621"/>
                          </a:solidFill>
                        </a:defRPr>
                      </a:pPr>
                      <a:r>
                        <a:t>End-to-end student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F5D4C"/>
          </a:solidFill>
          <a:ln w="19050">
            <a:solidFill>
              <a:srgbClr val="46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A9100"/>
                </a:solidFill>
              </a:defRPr>
            </a:pPr>
            <a:r>
              <a:t>🎓 CAMPUS MARKETPLACE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1400">
                <a:solidFill>
                  <a:srgbClr val="DCF0E6"/>
                </a:solidFill>
              </a:defRPr>
            </a:pPr>
            <a:r>
              <a:t>Our team of 5 delivered an enterprise-grade mobile trading application with 5 dedicated subsystems.</a:t>
            </a:r>
            <a:br/>
            <a:r>
              <a:t>We are now delighted to answer any questions from the evaluation panel.</a:t>
            </a:r>
          </a:p>
          <a:p>
            <a:br/>
            <a:pPr algn="ctr">
              <a:defRPr sz="1200" b="1">
                <a:solidFill>
                  <a:srgbClr val="A5DCC3"/>
                </a:solidFill>
              </a:defRPr>
            </a:pPr>
            <a:r>
              <a:t>[Member 1 Name] · [Member 2 Name] · [Member 3 Name] · [Member 4 Name] · [Member 5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